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3977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75"/>
              </a:lnSpc>
              <a:buNone/>
            </a:pPr>
            <a:r>
              <a:rPr lang="en-US" sz="825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⚡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530352" y="2108002"/>
            <a:ext cx="8083296" cy="116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0"/>
              </a:lnSpc>
              <a:buNone/>
            </a:pPr>
            <a:r>
              <a:rPr lang="en-US" sz="6120" b="1" dirty="0">
                <a:solidFill>
                  <a:srgbClr val="7C3AE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GridPulse India</a:t>
            </a:r>
            <a:endParaRPr lang="en-US" sz="6120" dirty="0"/>
          </a:p>
        </p:txBody>
      </p:sp>
      <p:sp>
        <p:nvSpPr>
          <p:cNvPr id="4" name="Text 2"/>
          <p:cNvSpPr/>
          <p:nvPr/>
        </p:nvSpPr>
        <p:spPr>
          <a:xfrm>
            <a:off x="609600" y="3426172"/>
            <a:ext cx="7924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90A2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Hierarchical time series forecasting for electricity demand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4226272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National → Maharashtra → Mumbai demand forecasting using multilevel time series analysis, Fourier seasonality features, and LSTM-based global learning.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85330"/>
            <a:ext cx="2489150" cy="1267420"/>
          </a:xfrm>
          <a:prstGeom prst="roundRect">
            <a:avLst>
              <a:gd name="adj" fmla="val 1298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685330"/>
            <a:ext cx="2489150" cy="1267420"/>
          </a:xfrm>
          <a:prstGeom prst="roundRect">
            <a:avLst>
              <a:gd name="adj" fmla="val 1298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685330"/>
            <a:ext cx="2489299" cy="1267420"/>
          </a:xfrm>
          <a:prstGeom prst="roundRect">
            <a:avLst>
              <a:gd name="adj" fmla="val 1298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181350"/>
            <a:ext cx="2489150" cy="1267420"/>
          </a:xfrm>
          <a:prstGeom prst="roundRect">
            <a:avLst>
              <a:gd name="adj" fmla="val 1298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27350" y="3181350"/>
            <a:ext cx="2489150" cy="1267420"/>
          </a:xfrm>
          <a:prstGeom prst="roundRect">
            <a:avLst>
              <a:gd name="adj" fmla="val 1298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45101" y="3181350"/>
            <a:ext cx="2489299" cy="1267420"/>
          </a:xfrm>
          <a:prstGeom prst="roundRect">
            <a:avLst>
              <a:gd name="adj" fmla="val 12986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9473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Project name ideas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90575" y="1866305"/>
            <a:ext cx="2169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GridPulse India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0575" y="2209205"/>
            <a:ext cx="212720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overall: strong, modern, electricity + forecasting feel.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3508325" y="1866305"/>
            <a:ext cx="2169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LoadLens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8325" y="2209205"/>
            <a:ext cx="212720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Highlights analytical visibility across national, state, and city levels.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6226076" y="1866305"/>
            <a:ext cx="21698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VoltCast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26076" y="2209205"/>
            <a:ext cx="212734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Short, pitch-friendly name for load forecasting systems.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790575" y="3362325"/>
            <a:ext cx="2169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PowerCascade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0575" y="3705225"/>
            <a:ext cx="212720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Emphasizes hierarchical flow from aggregate to granular nodes.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3508325" y="3362325"/>
            <a:ext cx="2169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HieraGrid Forecast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08325" y="3705225"/>
            <a:ext cx="212720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Direct academic-style option for final-year and report use.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6226076" y="3362325"/>
            <a:ext cx="21698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DemandSync AI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26076" y="3705225"/>
            <a:ext cx="212734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Fits reconciliation and coherent multi-level forecasting.</a:t>
            </a:r>
            <a:endParaRPr lang="en-US" sz="9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62075"/>
            <a:ext cx="3848100" cy="3409950"/>
          </a:xfrm>
          <a:prstGeom prst="roundRect">
            <a:avLst>
              <a:gd name="adj" fmla="val 4826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62075"/>
            <a:ext cx="3848100" cy="3409950"/>
          </a:xfrm>
          <a:prstGeom prst="roundRect">
            <a:avLst>
              <a:gd name="adj" fmla="val 4826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7147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Problem and goal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90575" y="1543050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0A2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0575" y="1847850"/>
            <a:ext cx="348615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Electricity demand is naturally hierarchical across country, state, and city layers.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Independent forecasts often become incoherent when lower-level totals do not match top-level demand.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Utilities need coherent forecasts for scheduling, reserve planning, and peak management.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67275" y="1543050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0A2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objective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67275" y="1847850"/>
            <a:ext cx="348615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Forecast India load, Maharashtra load, and Mumbai load in one unified TSA pipeline.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 trend and multiple seasonal cycles with Fourier features.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a global LSTM model and reconciliation so every level stays aligned.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94470"/>
            <a:ext cx="1462980" cy="2583061"/>
          </a:xfrm>
          <a:prstGeom prst="roundRect">
            <a:avLst>
              <a:gd name="adj" fmla="val 11250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24980" y="994470"/>
            <a:ext cx="1462980" cy="2583061"/>
          </a:xfrm>
          <a:prstGeom prst="roundRect">
            <a:avLst>
              <a:gd name="adj" fmla="val 11250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40361" y="994470"/>
            <a:ext cx="1463129" cy="2583061"/>
          </a:xfrm>
          <a:prstGeom prst="roundRect">
            <a:avLst>
              <a:gd name="adj" fmla="val 11249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55890" y="994470"/>
            <a:ext cx="1462980" cy="2583061"/>
          </a:xfrm>
          <a:prstGeom prst="roundRect">
            <a:avLst>
              <a:gd name="adj" fmla="val 11250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71271" y="994470"/>
            <a:ext cx="1463129" cy="2583061"/>
          </a:xfrm>
          <a:prstGeom prst="roundRect">
            <a:avLst>
              <a:gd name="adj" fmla="val 11249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977580"/>
            <a:ext cx="7924800" cy="1162050"/>
          </a:xfrm>
          <a:prstGeom prst="roundRect">
            <a:avLst>
              <a:gd name="adj" fmla="val 14163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387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90575" y="1175445"/>
            <a:ext cx="1101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Data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0575" y="1708845"/>
            <a:ext cx="1101030" cy="1687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National grid load, Maharashtra state load, Mumbai city demand, weather, calendar, holidays.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2405955" y="1175445"/>
            <a:ext cx="11010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Processing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05955" y="1937445"/>
            <a:ext cx="1101030" cy="131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Missing-value handling, time alignment, outlier control, resampling, hierarchy mapping.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4021336" y="1175445"/>
            <a:ext cx="1101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Feature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1336" y="1708845"/>
            <a:ext cx="1101179" cy="112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Lag variables, rolling means, weekday flags, peak-hour markers, Fourier seasonal terms.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5636865" y="1175445"/>
            <a:ext cx="1101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Forecast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36865" y="1708845"/>
            <a:ext cx="1101030" cy="112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LSTM for all nodes, baseline SARIMA/Prophet, train-validation split.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7252246" y="1175445"/>
            <a:ext cx="11011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Reconciliation +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52246" y="1937445"/>
            <a:ext cx="1101179" cy="131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Bottom-up / MinT-style coherence, RMSE-MAPE monitoring, operator dashboard.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594970" y="3653730"/>
            <a:ext cx="1492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↓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2210351" y="3653730"/>
            <a:ext cx="1492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↓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3825730" y="3653730"/>
            <a:ext cx="14923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↓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5441260" y="3653730"/>
            <a:ext cx="1492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↓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7056639" y="3653730"/>
            <a:ext cx="14923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↓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790575" y="4158555"/>
            <a:ext cx="77141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0A2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Forecast outputs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0575" y="4425255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India demand forecast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362325" y="4425255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Maharashtra demand forecast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34075" y="4425255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Mumbai demand forecast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3810000" cy="3390900"/>
          </a:xfrm>
          <a:prstGeom prst="roundRect">
            <a:avLst>
              <a:gd name="adj" fmla="val 4853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0575" y="1895475"/>
            <a:ext cx="3448050" cy="628650"/>
          </a:xfrm>
          <a:prstGeom prst="roundRect">
            <a:avLst>
              <a:gd name="adj" fmla="val 26181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level: India total load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0575" y="2638425"/>
            <a:ext cx="3448050" cy="895350"/>
          </a:xfrm>
          <a:prstGeom prst="roundRect">
            <a:avLst>
              <a:gd name="adj" fmla="val 1838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Middle level: Maharashtra state load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90575" y="3648075"/>
            <a:ext cx="3448050" cy="628650"/>
          </a:xfrm>
          <a:prstGeom prst="roundRect">
            <a:avLst>
              <a:gd name="adj" fmla="val 26181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Bottom level: Mumbai city load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1371600"/>
            <a:ext cx="3810000" cy="3390900"/>
          </a:xfrm>
          <a:prstGeom prst="roundRect">
            <a:avLst>
              <a:gd name="adj" fmla="val 4853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05375" y="1895475"/>
            <a:ext cx="1666875" cy="819150"/>
          </a:xfrm>
          <a:prstGeom prst="roundRect">
            <a:avLst>
              <a:gd name="adj" fmla="val 2009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Historical demand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86550" y="1895475"/>
            <a:ext cx="1666875" cy="819150"/>
          </a:xfrm>
          <a:prstGeom prst="roundRect">
            <a:avLst>
              <a:gd name="adj" fmla="val 2009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Temperature / humidity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5375" y="2828925"/>
            <a:ext cx="1666875" cy="819150"/>
          </a:xfrm>
          <a:prstGeom prst="roundRect">
            <a:avLst>
              <a:gd name="adj" fmla="val 2009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Hour / day / month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86550" y="2828925"/>
            <a:ext cx="1666875" cy="819150"/>
          </a:xfrm>
          <a:prstGeom prst="roundRect">
            <a:avLst>
              <a:gd name="adj" fmla="val 2009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Weekend / holiday flags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05375" y="3762375"/>
            <a:ext cx="1666875" cy="819150"/>
          </a:xfrm>
          <a:prstGeom prst="roundRect">
            <a:avLst>
              <a:gd name="adj" fmla="val 2009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Festival effects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86550" y="3762375"/>
            <a:ext cx="1666875" cy="819150"/>
          </a:xfrm>
          <a:prstGeom prst="roundRect">
            <a:avLst>
              <a:gd name="adj" fmla="val 2009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Peak-period indicators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8100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Data and hierarchy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90575" y="1552575"/>
            <a:ext cx="35170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Hierarchy used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5375" y="1552575"/>
            <a:ext cx="35170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 variables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28130"/>
            <a:ext cx="2489150" cy="1724620"/>
          </a:xfrm>
          <a:prstGeom prst="roundRect">
            <a:avLst>
              <a:gd name="adj" fmla="val 9543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228130"/>
            <a:ext cx="2489150" cy="1724620"/>
          </a:xfrm>
          <a:prstGeom prst="roundRect">
            <a:avLst>
              <a:gd name="adj" fmla="val 9543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228130"/>
            <a:ext cx="2489299" cy="1724620"/>
          </a:xfrm>
          <a:prstGeom prst="roundRect">
            <a:avLst>
              <a:gd name="adj" fmla="val 9543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181350"/>
            <a:ext cx="2489150" cy="1724620"/>
          </a:xfrm>
          <a:prstGeom prst="roundRect">
            <a:avLst>
              <a:gd name="adj" fmla="val 9543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27350" y="3181350"/>
            <a:ext cx="2489150" cy="1724620"/>
          </a:xfrm>
          <a:prstGeom prst="roundRect">
            <a:avLst>
              <a:gd name="adj" fmla="val 9543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45101" y="3181350"/>
            <a:ext cx="2489299" cy="1724620"/>
          </a:xfrm>
          <a:prstGeom prst="roundRect">
            <a:avLst>
              <a:gd name="adj" fmla="val 9543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753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Where TSA is applied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90575" y="1409105"/>
            <a:ext cx="2169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📈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0575" y="1904405"/>
            <a:ext cx="216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575" y="2209205"/>
            <a:ext cx="212720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Long-term rise or decline in demand due to growth, industry, and urbanization.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3508325" y="1409105"/>
            <a:ext cx="2169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🔁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508325" y="1904405"/>
            <a:ext cx="216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Seasonality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8325" y="2209205"/>
            <a:ext cx="212720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Daily, weekly, and annual cycles represented with Fourier terms and calendar features.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6226076" y="1409105"/>
            <a:ext cx="2169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⏱️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226076" y="1904405"/>
            <a:ext cx="2169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26076" y="2209205"/>
            <a:ext cx="2127349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Past load sequences are used to predict future demand windows at multiple levels.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790575" y="3362325"/>
            <a:ext cx="2169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🧪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790575" y="3857625"/>
            <a:ext cx="216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Stationarity 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575" y="4162425"/>
            <a:ext cx="212720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Differencing and decomposition prepare baseline models such as SARIMA.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3508325" y="3362325"/>
            <a:ext cx="21697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🧩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3508325" y="3857625"/>
            <a:ext cx="216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Hierarchical coherence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8325" y="4162425"/>
            <a:ext cx="212720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Forecasts are reconciled so local predictions sum consistently to state and national demand.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6226076" y="3362325"/>
            <a:ext cx="2169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📊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226076" y="3857625"/>
            <a:ext cx="2169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Error evaluation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26076" y="4162425"/>
            <a:ext cx="2127349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RMSE, MAE, and MAPE compare performance across each hierarchy layer.</a:t>
            </a:r>
            <a:endParaRPr lang="en-US" sz="9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00225"/>
            <a:ext cx="3848100" cy="2533650"/>
          </a:xfrm>
          <a:prstGeom prst="roundRect">
            <a:avLst>
              <a:gd name="adj" fmla="val 6496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800225"/>
            <a:ext cx="3848100" cy="2533650"/>
          </a:xfrm>
          <a:prstGeom prst="roundRect">
            <a:avLst>
              <a:gd name="adj" fmla="val 6496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80962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Methods applied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90575" y="1981200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modeling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0575" y="2324100"/>
            <a:ext cx="34861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LSTM global model for sequence learning across all hierarchy nodes.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SARIMA / Prophet baselines for classical TSA comparison.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Sliding-window supervised learning for short-term forecasting.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67275" y="1981200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Seasonality and hierarchy methods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67275" y="2324100"/>
            <a:ext cx="34861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Fourier terms to encode smooth daily, weekly, and yearly seasonal patterns.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Bottom-up or MinT-style reconciliation to maintain aggregate consistency.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Rolling validation for realistic future forecasting evaluation.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23665"/>
            <a:ext cx="1838325" cy="1686520"/>
          </a:xfrm>
          <a:prstGeom prst="roundRect">
            <a:avLst>
              <a:gd name="adj" fmla="val 9759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38425" y="1223665"/>
            <a:ext cx="1838325" cy="1686520"/>
          </a:xfrm>
          <a:prstGeom prst="roundRect">
            <a:avLst>
              <a:gd name="adj" fmla="val 9759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1223665"/>
            <a:ext cx="1838325" cy="1686520"/>
          </a:xfrm>
          <a:prstGeom prst="roundRect">
            <a:avLst>
              <a:gd name="adj" fmla="val 9759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96075" y="1223665"/>
            <a:ext cx="1838325" cy="1686520"/>
          </a:xfrm>
          <a:prstGeom prst="roundRect">
            <a:avLst>
              <a:gd name="adj" fmla="val 9759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3306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Pipeline flow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5811" y="1404640"/>
            <a:ext cx="1505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75811" y="1861840"/>
            <a:ext cx="150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Collect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575" y="2166640"/>
            <a:ext cx="1476375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Demand + weather + calendar data.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2804636" y="1404640"/>
            <a:ext cx="1505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804636" y="1861840"/>
            <a:ext cx="150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19400" y="2166640"/>
            <a:ext cx="1476375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Resample, clean, align timestamps, map hierarchy.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4833461" y="1404640"/>
            <a:ext cx="1505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833461" y="1861840"/>
            <a:ext cx="150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8225" y="2166640"/>
            <a:ext cx="1476375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features and train LSTM + baselines.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6862286" y="1404640"/>
            <a:ext cx="1505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862286" y="1861840"/>
            <a:ext cx="150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Reconcile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77050" y="2166640"/>
            <a:ext cx="1476375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coherent forecasts and publish dashboards.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1077218" y="4722912"/>
            <a:ext cx="58794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Ingestion</a:t>
            </a:r>
            <a:endParaRPr lang="en-US" sz="984" dirty="0"/>
          </a:p>
        </p:txBody>
      </p:sp>
      <p:sp>
        <p:nvSpPr>
          <p:cNvPr id="20" name="Text 18"/>
          <p:cNvSpPr/>
          <p:nvPr/>
        </p:nvSpPr>
        <p:spPr>
          <a:xfrm>
            <a:off x="2694831" y="4722912"/>
            <a:ext cx="55848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Cleaning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4303365" y="4722912"/>
            <a:ext cx="54771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Features</a:t>
            </a:r>
            <a:endParaRPr lang="en-US" sz="984" dirty="0"/>
          </a:p>
        </p:txBody>
      </p:sp>
      <p:sp>
        <p:nvSpPr>
          <p:cNvPr id="22" name="Text 20"/>
          <p:cNvSpPr/>
          <p:nvPr/>
        </p:nvSpPr>
        <p:spPr>
          <a:xfrm>
            <a:off x="6008489" y="4722912"/>
            <a:ext cx="339587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LSTM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7567166" y="4722912"/>
            <a:ext cx="430366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Recon.</a:t>
            </a:r>
            <a:endParaRPr lang="en-US" sz="9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13632"/>
            <a:ext cx="2489150" cy="1270397"/>
          </a:xfrm>
          <a:prstGeom prst="roundRect">
            <a:avLst>
              <a:gd name="adj" fmla="val 12955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913632"/>
            <a:ext cx="2489150" cy="1270397"/>
          </a:xfrm>
          <a:prstGeom prst="roundRect">
            <a:avLst>
              <a:gd name="adj" fmla="val 12955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913632"/>
            <a:ext cx="2489299" cy="1270397"/>
          </a:xfrm>
          <a:prstGeom prst="roundRect">
            <a:avLst>
              <a:gd name="adj" fmla="val 12955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854571"/>
            <a:ext cx="8083296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940"/>
              </a:lnSpc>
              <a:buNone/>
            </a:pPr>
            <a:r>
              <a:rPr lang="en-US" sz="396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Expected output</a:t>
            </a:r>
            <a:endParaRPr lang="en-US" sz="3960" dirty="0"/>
          </a:p>
        </p:txBody>
      </p:sp>
      <p:sp>
        <p:nvSpPr>
          <p:cNvPr id="6" name="Text 4"/>
          <p:cNvSpPr/>
          <p:nvPr/>
        </p:nvSpPr>
        <p:spPr>
          <a:xfrm>
            <a:off x="769303" y="2094607"/>
            <a:ext cx="216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24h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9303" y="2628007"/>
            <a:ext cx="21697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Short-term demand horizon</a:t>
            </a:r>
            <a:endParaRPr lang="en-US" sz="984" dirty="0"/>
          </a:p>
        </p:txBody>
      </p:sp>
      <p:sp>
        <p:nvSpPr>
          <p:cNvPr id="8" name="Text 6"/>
          <p:cNvSpPr/>
          <p:nvPr/>
        </p:nvSpPr>
        <p:spPr>
          <a:xfrm>
            <a:off x="3487053" y="2094607"/>
            <a:ext cx="216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87053" y="2628007"/>
            <a:ext cx="21697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Hierarchy levels forecast together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6204802" y="2094607"/>
            <a:ext cx="216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EEF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RMSE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26076" y="2628007"/>
            <a:ext cx="212734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CB0C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error metric for comparison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914400" y="3488829"/>
            <a:ext cx="7315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ED9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final system delivers coherent electricity demand forecasts, layer-wise evaluation, and a clear architecture that shows exactly where time series analysis methods are applied.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2026-05-04T14:58:26Z</dcterms:created>
  <dcterms:modified xsi:type="dcterms:W3CDTF">2026-05-04T14:58:26Z</dcterms:modified>
</cp:coreProperties>
</file>